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2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51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183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Commercial Data Analysis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0574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2F3E"/>
                </a:solidFill>
              </a:rPr>
              <a:t>Amazon 商业化数据分析项目总结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0" y="3090672"/>
            <a:ext cx="397764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703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solidFill>
                  <a:srgbClr val="20242B"/>
                </a:solidFill>
              </a:rPr>
              <a:t>李重延</a:t>
            </a:r>
            <a:endParaRPr lang="en-US" sz="1800" dirty="0">
              <a:solidFill>
                <a:srgbClr val="20242B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20242B"/>
                </a:solidFill>
              </a:rPr>
              <a:t>Arnold 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22452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67085"/>
                </a:solidFill>
              </a:rPr>
              <a:t>2026年9月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第一阶段｜数据工程与业务理解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1. 数据获取与初步探索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table_imgs/data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62886"/>
            <a:ext cx="5989320" cy="170362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4773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</a:rPr>
              <a:t>原始数据结构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87552" y="519379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242B"/>
                </a:solidFill>
              </a:rPr>
              <a:t>先确认“有什么数据、能回答什么问题”，再进入清洗与分析。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导入两套 Amazon 数据，先检查规模、字段类型、缺失值与重复值。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商品数据：1,465 条记录、16 个字段；评分数据：7,824,482 条记录。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后续分析重点确定为价格、折扣、评分、用户行为与评论文本。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第一阶段｜数据工程与业务理解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2. 数据清洗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table_imgs/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24862"/>
            <a:ext cx="5532120" cy="231119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统一价格、折扣率、评分等字段格式并转换为可计算数值。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检查缺失值、重复记录与异常值；价格异常使用 IQR 方法识别。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清洗后保留 1,247 条记录，其中 1,136 个唯一商品。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第一阶段｜数据工程与业务理解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3. 数据整合与宽表构建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table_imgs/data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95184"/>
            <a:ext cx="6053328" cy="25625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尝试以 product_id 关联商品信息与大规模用户评分数据。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两个数据源商品覆盖范围差异较大，强行合并会造成大量数据损失。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因此商品/评论分析与推荐系统分别使用更适合的数据源。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第一阶段｜数据工程与业务理解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4. 数据字典与业务指标定义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871" y="1874520"/>
            <a:ext cx="4467497" cy="2606040"/>
          </a:xfrm>
          <a:prstGeom prst="rect">
            <a:avLst/>
          </a:prstGeom>
        </p:spPr>
      </p:pic>
      <p:pic>
        <p:nvPicPr>
          <p:cNvPr id="11" name="Image 1" descr="/mnt/data/table_imgs/metric_avail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654" y="4681728"/>
            <a:ext cx="3111931" cy="1170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为 16 个字段整理数据类型、业务含义和示例值，统一后续分析口径。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数据缺少真实销量、曝光、点击与完整订单，因此无法严格计算 GMV、转化率和复购率。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后续重点使用评分、评价数量、价格、折扣率和用户评分行为等可靠指标。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5. 商品类目与价格分析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428" y="1965960"/>
            <a:ext cx="2958664" cy="1874520"/>
          </a:xfrm>
          <a:prstGeom prst="rect">
            <a:avLst/>
          </a:prstGeom>
        </p:spPr>
      </p:pic>
      <p:pic>
        <p:nvPicPr>
          <p:cNvPr id="11" name="Image 1" descr="/mnt/data/report_unzip/wor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650" y="4069080"/>
            <a:ext cx="3148220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正式比较样本量不少于 10 的四个主要类目。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Home&amp;Kitchen 的整体价格水平最高，OfficeProducts 最低。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Electronics 与 Computers&amp;Accessories 存在较多高价离群商品。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6. 多维度对比实验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加入折扣率、平均评分与评价热度，补充单一价格比较。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Electronics：折扣最高（57.34%），评分人数中位数最高（9,090）。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OfficeProducts：平均评分最高（4.31）；Computers&amp;Accessories 整体较均衡。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680570B-CC53-A444-F0B9-74FF094E3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30" y="1737361"/>
            <a:ext cx="6318419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7. 高活跃用户分析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615" y="1920240"/>
            <a:ext cx="2512570" cy="1874520"/>
          </a:xfrm>
          <a:prstGeom prst="rect">
            <a:avLst/>
          </a:prstGeom>
        </p:spPr>
      </p:pic>
      <p:pic>
        <p:nvPicPr>
          <p:cNvPr id="11" name="Image 1" descr="/mnt/data/report_unzip/word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944" y="4041648"/>
            <a:ext cx="2831912" cy="1874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按用户评分行为与活跃时间构建画像，并将前 10% 定义为高活跃用户。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高活跃用户平均评分商品数 6.93，普通用户仅 1.30。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高活跃用户好评率更高、差评率更低，平均活跃时间达到 1,041 天。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8. 总体评分分布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64" y="1874520"/>
            <a:ext cx="5866311" cy="3886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评分数据整体明显集中在高分区间。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5 星占 55.56%，4 星占 18.99%，二者合计约 74.55%。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总体平均评分约 4.01，中位数与众数均为 5。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9. 评论长度与评分关系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81" y="1832611"/>
            <a:ext cx="3486054" cy="2075687"/>
          </a:xfrm>
          <a:prstGeom prst="rect">
            <a:avLst/>
          </a:prstGeom>
        </p:spPr>
      </p:pic>
      <p:pic>
        <p:nvPicPr>
          <p:cNvPr id="11" name="Image 1" descr="/mnt/data/report_unzip/word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106" y="4042789"/>
            <a:ext cx="3486054" cy="20756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高评分组的平均评论文本长度更高，但组内差异也更大。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评分与字符数相关系数约 0.049，与单词数约 0.050。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整体线性关系非常弱，不能认为“评论越长，评分越高”。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10. 评论高频词与词云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0594"/>
            <a:ext cx="5897880" cy="36169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对 review_content 清洗后统计词频，并生成评论词云。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高频词包括 good、quality、cable、price、charging、battery、sound 等。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词云用于观察关注点分布，只代表词频，不直接代表情感。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第二阶段｜探索性分析与可视化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11. Tableau 综合仪表盘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3295"/>
            <a:ext cx="6080760" cy="357153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整合 Category Price、User Comparison、Rating Distribution、Review Length 和 Top Words 五个工作表。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在同一界面集中展示商品、用户和评论三个维度的分析结果。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用于快速比较指标，并提高后续业务展示效率。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12. 评论情感分析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3" y="1874520"/>
            <a:ext cx="5481314" cy="3886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review_content 为商品级汇总文本，因此以每个商品的评论文本集合为分析单位。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使用 NLTK VADER：compound ≥ 0.05 为正向，≤ -0.05 为负向。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1,247 个文本单元中，94.39% 为正向、4.73% 为负向、0.88% 为中性。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13. 评分与评论情感异常分析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25" y="1828800"/>
            <a:ext cx="5270269" cy="3931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多数高评分商品的文本情感为正，但仍存在明显异常点。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例如 Dell MS116 Mouse：评分 4.5，VADER = -0.8380。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“高评分 + 强负面文本”可作为产品体验异常监测信号。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14. LDA 主题建模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64071"/>
            <a:ext cx="5897880" cy="350709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使用 CountVectorizer 将文本转为词频矩阵，再用 LDA 提取 5 个潜在主题。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General Product Experience 占 54.53%，Charging &amp; Cables 占 24.38%。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质量、价格、充电、电池、音质等是更有商业解释力的共同关注点。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15. 推荐系统数据筛选与矩阵构建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table_imgs/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79752"/>
            <a:ext cx="6080760" cy="30471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56235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9900"/>
                </a:solidFill>
              </a:rPr>
              <a:t>最终选择：用户 ≥ 5 次，商品 ≥ 60 次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原始用户—商品交互极度稀疏，初始矩阵稀疏度为 99.6826%。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通过阈值实验，最终选择“用户至少评分 5 次、商品至少被评分 60 次”。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最终保留 183,575 条评分、24,751 名用户、1,336 个商品，矩阵密度 0.5552%。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16. Item-Based CF 推荐模型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38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</a:rPr>
              <a:t>相似商品推荐示例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09568" y="197878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085"/>
                </a:solidFill>
              </a:rPr>
              <a:t>基准商品：B007WTAJTO</a:t>
            </a:r>
            <a:endParaRPr lang="en-US" sz="1100" b="1" dirty="0"/>
          </a:p>
        </p:txBody>
      </p:sp>
      <p:pic>
        <p:nvPicPr>
          <p:cNvPr id="12" name="Image 0" descr="/mnt/data/table_imgs/similar_i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41143"/>
            <a:ext cx="5715000" cy="28638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基于筛选后的 Product-User Matrix 计算商品之间的 Cosine Similarity。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用户高分评价某商品后，模型根据相似商品与历史评分生成 Top-N 推荐。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该方法不依赖商品文本属性，直接利用用户评分行为完成个性化推荐。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17. 推荐模型效果评估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table_imgs/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45029"/>
            <a:ext cx="5440680" cy="30286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采用 Leave-One-Out：每名用户保留 1 个测试商品，其余作为训练数据。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仅使用训练集重新计算商品相似度，避免测试信息泄漏。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24,691 名有效用户中命中 2,993 人；Hit Rate@10 / Recall@10 = 12.12%，Precision@10 = 1.21%。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86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第三阶段｜建模与深度洞察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</a:rPr>
              <a:t>18. 四种推荐模型横向比较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66294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88352" y="1664208"/>
            <a:ext cx="4224528" cy="452628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F3E"/>
                </a:solidFill>
              </a:rPr>
              <a:t>简要总结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6680" y="2331720"/>
            <a:ext cx="3429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pic>
        <p:nvPicPr>
          <p:cNvPr id="10" name="Image 0" descr="/mnt/data/report_unzip/word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24541"/>
            <a:ext cx="5897880" cy="31861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99248" y="2596896"/>
            <a:ext cx="3456432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20242B"/>
                </a:solidFill>
              </a:rPr>
              <a:t>四种模型使用完全相同的训练集、测试集和 Top-10 评价设置。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Hit Rate@10：Popularity 5.95%、User-Based CF 7.80%、SVD 7.48%、Item-Based CF 12.12%。</a:t>
            </a:r>
            <a:endParaRPr lang="en-US" sz="1520" dirty="0"/>
          </a:p>
          <a:p>
            <a:r>
              <a:rPr lang="en-US" sz="1520" dirty="0">
                <a:solidFill>
                  <a:srgbClr val="20242B"/>
                </a:solidFill>
              </a:rPr>
              <a:t>在当前数据与实验设置下，Item-Based CF 的 Top-10 推荐表现最佳。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8F29D9B-4C40-3673-9BFA-0CF2A2C0E819}"/>
              </a:ext>
            </a:extLst>
          </p:cNvPr>
          <p:cNvSpPr txBox="1"/>
          <p:nvPr/>
        </p:nvSpPr>
        <p:spPr>
          <a:xfrm>
            <a:off x="345233" y="804038"/>
            <a:ext cx="27338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3000" b="1" dirty="0">
                <a:latin typeface="+mj-lt"/>
              </a:rPr>
              <a:t>19. </a:t>
            </a:r>
            <a:r>
              <a:rPr lang="zh-CN" altLang="en-US" sz="3000" b="1" dirty="0">
                <a:latin typeface="+mj-lt"/>
              </a:rPr>
              <a:t>核心发现</a:t>
            </a:r>
            <a:endParaRPr lang="en-US" altLang="zh-CN" sz="3000" b="1" dirty="0">
              <a:latin typeface="+mj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7995C1-FDD7-05EB-CA2F-20D6703BB0FC}"/>
              </a:ext>
            </a:extLst>
          </p:cNvPr>
          <p:cNvSpPr txBox="1"/>
          <p:nvPr/>
        </p:nvSpPr>
        <p:spPr>
          <a:xfrm>
            <a:off x="1712167" y="2164702"/>
            <a:ext cx="91564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400" dirty="0"/>
              <a:t>Electronics 评价热度最高、折扣力度最大</a:t>
            </a:r>
            <a:br>
              <a:rPr lang="zh-CN" altLang="zh-CN" sz="2400" dirty="0"/>
            </a:b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400" dirty="0"/>
              <a:t>高活跃用户互动更频繁、活跃周期更长</a:t>
            </a:r>
            <a:br>
              <a:rPr lang="zh-CN" altLang="zh-CN" sz="2400" dirty="0"/>
            </a:b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 sz="2400" dirty="0"/>
              <a:t>用户重点关注质量、价格、充电、电池和音质</a:t>
            </a:r>
            <a:br>
              <a:rPr lang="zh-CN" altLang="zh-CN" sz="2400" dirty="0"/>
            </a:br>
            <a:endParaRPr lang="en-US" altLang="zh-C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dirty="0"/>
              <a:t>在当前实验设置下，</a:t>
            </a:r>
            <a:r>
              <a:rPr lang="en-US" altLang="zh-CN" sz="2400" dirty="0"/>
              <a:t>Item-Based CF </a:t>
            </a:r>
            <a:r>
              <a:rPr lang="zh-CN" altLang="en-US" sz="2400" dirty="0"/>
              <a:t>的 </a:t>
            </a:r>
            <a:r>
              <a:rPr lang="en-US" altLang="zh-CN" sz="2400" dirty="0"/>
              <a:t>Top-10 </a:t>
            </a:r>
            <a:r>
              <a:rPr lang="zh-CN" altLang="en-US" sz="2400" dirty="0"/>
              <a:t>推荐表现最佳</a:t>
            </a:r>
            <a:endParaRPr lang="en-US" altLang="zh-CN" sz="3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5C8EF44-9AE6-3BDD-3262-DA8DDC2EE1DC}"/>
              </a:ext>
            </a:extLst>
          </p:cNvPr>
          <p:cNvSpPr/>
          <p:nvPr/>
        </p:nvSpPr>
        <p:spPr>
          <a:xfrm>
            <a:off x="566928" y="1422607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31360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0866925-5FFA-146F-DA53-8E8BD778AA65}"/>
              </a:ext>
            </a:extLst>
          </p:cNvPr>
          <p:cNvSpPr/>
          <p:nvPr/>
        </p:nvSpPr>
        <p:spPr>
          <a:xfrm>
            <a:off x="566928" y="1417320"/>
            <a:ext cx="1101852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CD7531-DFDA-894B-F707-7EBEE8622E13}"/>
              </a:ext>
            </a:extLst>
          </p:cNvPr>
          <p:cNvSpPr txBox="1"/>
          <p:nvPr/>
        </p:nvSpPr>
        <p:spPr>
          <a:xfrm>
            <a:off x="345233" y="804038"/>
            <a:ext cx="27338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3000" b="1" dirty="0">
                <a:latin typeface="+mj-lt"/>
              </a:rPr>
              <a:t>20. </a:t>
            </a:r>
            <a:r>
              <a:rPr lang="zh-CN" altLang="en-US" sz="3000" b="1" dirty="0">
                <a:latin typeface="+mj-lt"/>
              </a:rPr>
              <a:t>商业建议</a:t>
            </a:r>
            <a:endParaRPr lang="en-US" altLang="zh-CN" sz="3000" b="1" dirty="0"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E6A85A-39AF-DD46-706E-047CC7CE5651}"/>
              </a:ext>
            </a:extLst>
          </p:cNvPr>
          <p:cNvSpPr txBox="1"/>
          <p:nvPr/>
        </p:nvSpPr>
        <p:spPr>
          <a:xfrm>
            <a:off x="1294622" y="2021632"/>
            <a:ext cx="960275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zh-CN" sz="2800" dirty="0"/>
              <a:t>Electronics：重点营销，但控制过度折扣</a:t>
            </a:r>
            <a:br>
              <a:rPr lang="zh-CN" altLang="zh-CN" sz="2800" dirty="0"/>
            </a:b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sz="2800" dirty="0"/>
              <a:t>Home&amp;Kitchen：优化高价低关注商品</a:t>
            </a:r>
            <a:br>
              <a:rPr lang="zh-CN" altLang="zh-CN" sz="2800" dirty="0"/>
            </a:b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sz="2800" dirty="0"/>
              <a:t>高活跃用户：个性化推荐、新品体验、定向运营</a:t>
            </a:r>
            <a:br>
              <a:rPr lang="zh-CN" altLang="zh-CN" sz="2800" dirty="0"/>
            </a:b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sz="2800" dirty="0"/>
              <a:t>建立“评分 + 评论情感”异常监测机制</a:t>
            </a:r>
          </a:p>
        </p:txBody>
      </p:sp>
    </p:spTree>
    <p:extLst>
      <p:ext uri="{BB962C8B-B14F-4D97-AF65-F5344CB8AC3E}">
        <p14:creationId xmlns:p14="http://schemas.microsoft.com/office/powerpoint/2010/main" val="158605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846</Words>
  <Application>Microsoft Office PowerPoint</Application>
  <PresentationFormat>宽屏</PresentationFormat>
  <Paragraphs>164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Data Analyst Internship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商业化数据分析项目总结</dc:title>
  <dc:subject>Amazon 商业化数据分析项目总结</dc:subject>
  <dc:creator>Arnold Li</dc:creator>
  <cp:lastModifiedBy>重延 李</cp:lastModifiedBy>
  <cp:revision>5</cp:revision>
  <dcterms:created xsi:type="dcterms:W3CDTF">2026-09-30T14:58:13Z</dcterms:created>
  <dcterms:modified xsi:type="dcterms:W3CDTF">2026-09-30T23:43:35Z</dcterms:modified>
</cp:coreProperties>
</file>